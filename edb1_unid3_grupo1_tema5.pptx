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50de8f113_0_1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550de8f113_0_1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50de8f6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50de8f6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50de8f60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550de8f60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50de8f60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50de8f60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5b18e96f3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55b18e96f3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55b18e96f3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55b18e96f3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55b18e96f3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55b18e96f3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5b18e96f3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55b18e96f3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55b18e96f3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55b18e96f3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55b18e96f3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55b18e96f3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b18e96f3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b18e96f3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550de8f60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550de8f60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0a84c1fd1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0a84c1fd1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550de8f60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550de8f60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55b18e96f3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55b18e96f3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55b18e96f3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55b18e96f3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50de8f60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50de8f60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55beb3ca36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55beb3ca36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550de8f60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550de8f60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b8lOWj3g-I4" TargetMode="External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youtube.com/watch?v=FHHOETUVcLo" TargetMode="External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odecrucks.com/shell-sort/" TargetMode="External"/><Relationship Id="rId4" Type="http://schemas.openxmlformats.org/officeDocument/2006/relationships/hyperlink" Target="https://www.shiksha.com/online-courses/articles/shell-sort-advantages-and-disadvantages/" TargetMode="External"/><Relationship Id="rId11" Type="http://schemas.openxmlformats.org/officeDocument/2006/relationships/hyperlink" Target="https://www.programiz.com/dsa/shell-sort" TargetMode="External"/><Relationship Id="rId10" Type="http://schemas.openxmlformats.org/officeDocument/2006/relationships/hyperlink" Target="https://en.wikipedia.org/wiki/Shellsort" TargetMode="External"/><Relationship Id="rId9" Type="http://schemas.openxmlformats.org/officeDocument/2006/relationships/hyperlink" Target="https://web.archive.org/web/20180923235211/http://sun.aei.polsl.pl/~mciura/publikacje/shellsort.pdf" TargetMode="External"/><Relationship Id="rId5" Type="http://schemas.openxmlformats.org/officeDocument/2006/relationships/hyperlink" Target="https://web.archive.org/web/20181026010135/http://www.stoimen.com:80/blog/2012/02/27/computer-algorithms-shell-sort/" TargetMode="External"/><Relationship Id="rId6" Type="http://schemas.openxmlformats.org/officeDocument/2006/relationships/hyperlink" Target="https://www.scholarhat.com/tutorial/datastructures/shell-sort-in-data-structures" TargetMode="External"/><Relationship Id="rId7" Type="http://schemas.openxmlformats.org/officeDocument/2006/relationships/hyperlink" Target="https://www.mycplus.com/featured-articles/shell-sort-algorithm/" TargetMode="External"/><Relationship Id="rId8" Type="http://schemas.openxmlformats.org/officeDocument/2006/relationships/hyperlink" Target="https://www.treinaweb.com.br/blog/conheca-os-principais-algoritmos-de-ordenaca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416475" y="11862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/>
              <a:t>Algoritmo de ordenação Shell Sort</a:t>
            </a:r>
            <a:endParaRPr sz="40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Carlos, </a:t>
            </a:r>
            <a:r>
              <a:rPr lang="en"/>
              <a:t>Jennifer, Jéssica, Pedro e Ramon.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 SORT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en"/>
              <a:t>Definição de “Shell Sort”;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en"/>
              <a:t>Funcionamento do algoritmo;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UcPeriod"/>
            </a:pPr>
            <a:r>
              <a:rPr lang="en"/>
              <a:t>Passo a passo;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UcPeriod"/>
            </a:pPr>
            <a:r>
              <a:rPr lang="en"/>
              <a:t>Relembrando Insertion Sort;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UcPeriod"/>
            </a:pPr>
            <a:r>
              <a:rPr lang="en"/>
              <a:t>Ilustração</a:t>
            </a:r>
            <a:r>
              <a:rPr lang="en"/>
              <a:t>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UcPeriod"/>
            </a:pPr>
            <a:r>
              <a:rPr lang="en"/>
              <a:t>Algumas sequências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en"/>
              <a:t>Exemplos de utilização;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en"/>
              <a:t>Exemplos de implementação;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UcPeriod"/>
            </a:pPr>
            <a:r>
              <a:rPr lang="en"/>
              <a:t>Shell;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UcPeriod"/>
            </a:pPr>
            <a:r>
              <a:rPr lang="en"/>
              <a:t>Knuth;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UcPeriod"/>
            </a:pPr>
            <a:r>
              <a:rPr lang="en"/>
              <a:t>Ciura.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en"/>
              <a:t>Vantagens e desvantagens</a:t>
            </a:r>
            <a:r>
              <a:rPr lang="en"/>
              <a:t>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en"/>
              <a:t>Conclusão</a:t>
            </a:r>
            <a:r>
              <a:rPr lang="en"/>
              <a:t>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en"/>
              <a:t>Referências.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I. Definição de “Shell Sort”;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Algoritmo de ordenação in-place criado por Donald Shell em 1959;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Extensão do InsertionSort e tem uma performance melhor;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Permite a troca de elementos distantes dentro do array;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Tempo de execução fortemente influenciado pela sequência que calcula a distância;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Sequência perfeita ainda não foi encontrada;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Complexidade de tempo depende da sequência utilizada.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</a:t>
            </a:r>
            <a:r>
              <a:rPr lang="en"/>
              <a:t>Funcionamento do algoritmo;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lphaUcPeriod"/>
            </a:pPr>
            <a:r>
              <a:rPr lang="en"/>
              <a:t>Passo a passo;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Escolher uma sequência para calcular a distância entre os elementos. Exemplos: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Shell:                N / 2^k 			, k &gt;= 1   , N == tam do array;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Knuth:             </a:t>
            </a:r>
            <a:r>
              <a:rPr lang="en" sz="1300"/>
              <a:t>(3^k - 1) / 2 			, k &gt;= 1;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Sedgewick:   4^(k) + 3*2^(k-1) + 1 	, k &gt;= 1.</a:t>
            </a:r>
            <a:br>
              <a:rPr lang="en" sz="1300"/>
            </a:b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Começar o algoritmo com uma distância grande;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 acordo com a distância, comparar e, se necessário, trocar de posição os elementos;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Reduzir a distância;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Repetir o processo até que a distância seja igual a 1;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 a distância igual a 1, utilizar o Insertion Sort.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Funcionamento do algoritmo;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B.   Relembrando Insertion Sort;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just using this animation to present some slides about shellsort" id="159" name="Google Shape;159;p17" title="insertion sort animatio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2400" y="1366000"/>
            <a:ext cx="5309100" cy="29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Funcionamento do algoritmo;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C.   Ilustração;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13" y="1619100"/>
            <a:ext cx="2678811" cy="2181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825" y="4157188"/>
            <a:ext cx="2707289" cy="3893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18"/>
          <p:cNvCxnSpPr>
            <a:stCxn id="165" idx="2"/>
            <a:endCxn id="166" idx="0"/>
          </p:cNvCxnSpPr>
          <p:nvPr/>
        </p:nvCxnSpPr>
        <p:spPr>
          <a:xfrm flipH="1">
            <a:off x="2437618" y="3800159"/>
            <a:ext cx="3900" cy="35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8" name="Google Shape;16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5710" y="1619100"/>
            <a:ext cx="2688336" cy="1430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47935" y="4166338"/>
            <a:ext cx="2714996" cy="3710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18"/>
          <p:cNvCxnSpPr>
            <a:stCxn id="166" idx="3"/>
          </p:cNvCxnSpPr>
          <p:nvPr/>
        </p:nvCxnSpPr>
        <p:spPr>
          <a:xfrm flipH="1" rot="10800000">
            <a:off x="3791114" y="1823759"/>
            <a:ext cx="276300" cy="252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8"/>
          <p:cNvCxnSpPr>
            <a:stCxn id="168" idx="2"/>
            <a:endCxn id="169" idx="0"/>
          </p:cNvCxnSpPr>
          <p:nvPr/>
        </p:nvCxnSpPr>
        <p:spPr>
          <a:xfrm>
            <a:off x="5399878" y="3049259"/>
            <a:ext cx="5700" cy="111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19752" y="1163000"/>
            <a:ext cx="1945336" cy="3510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18"/>
          <p:cNvCxnSpPr>
            <a:stCxn id="169" idx="3"/>
          </p:cNvCxnSpPr>
          <p:nvPr/>
        </p:nvCxnSpPr>
        <p:spPr>
          <a:xfrm flipH="1" rot="10800000">
            <a:off x="6762931" y="1305062"/>
            <a:ext cx="265500" cy="3046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18"/>
          <p:cNvSpPr txBox="1"/>
          <p:nvPr/>
        </p:nvSpPr>
        <p:spPr>
          <a:xfrm>
            <a:off x="1910975" y="1218900"/>
            <a:ext cx="10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gap = n/2</a:t>
            </a:r>
            <a:endParaRPr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4873363" y="1218900"/>
            <a:ext cx="10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gap = n/4</a:t>
            </a:r>
            <a:endParaRPr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242875" y="762800"/>
            <a:ext cx="14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gap = n/8 == 1</a:t>
            </a:r>
            <a:endParaRPr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Funcionamento do algoritmo;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C.   Ilustração;</a:t>
            </a:r>
            <a:endParaRPr/>
          </a:p>
        </p:txBody>
      </p:sp>
      <p:pic>
        <p:nvPicPr>
          <p:cNvPr descr="just using this animation to present some slides about shellsort" id="182" name="Google Shape;182;p19" title="shellsort animation(shell's sequence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8460" y="1480475"/>
            <a:ext cx="5017000" cy="282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  Funcionamento do algoritmo;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 	  Algumas s</a:t>
            </a:r>
            <a:r>
              <a:rPr lang="en"/>
              <a:t>equências.</a:t>
            </a:r>
            <a:endParaRPr/>
          </a:p>
        </p:txBody>
      </p:sp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Donald Shell (1959):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Fórmula: [N/2k]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Sequência: [N/2], [N/4], [N/8], … 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Hibbard (1963):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Fórmula: 2k-1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Sequência: 0, 1, 3, 7, 15, 31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Papernov &amp; Stasevich (1965):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Fórmula: 2k+1, prefixado com 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Sequência: 1, 3, 5, 9, 17, 33, 65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Knuth (1973):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Fórmula: (3^n – 1)/2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Sequência: 0, 1, 4, 13, 40, 121, 364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  Funcionamento do algoritmo;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 	  Algumas sequências.</a:t>
            </a:r>
            <a:endParaRPr/>
          </a:p>
        </p:txBody>
      </p:sp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Sedgewick (1982 e 1986):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Fórmula 1:   4^(n+1) + 3*2^n + 1, prefixado com 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Sequência:   1, 8, 23, 77, 281, 1073, 4193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Fórmula 2: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Para arrays de tamanho par:   9*2^n – 9*2^(n/2) + 1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Para arrays de tamanho ímpar:    8*2^n – 6*2^((n+1)/2) + 1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Sequência 2:   1, 5, 19, 41, 109, 209, 505, 929, 2161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Tokuda (1992):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Fórmula:   ceiling( (9 * (9/4)^n – 4) / 5).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Sequência:   1, 4, 9, 20, 46, 103, 233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Ciura (2001):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“Melhores incrementos para o caso médio de ShellSort.”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Sequência:   1, 4, 10, 23, 57, 132, 301, 701, 1750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  Funcionamento do algoritmo;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 	  Algumas sequências.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50" y="1307852"/>
            <a:ext cx="8869678" cy="357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  Funcionamento do algoritmo;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 	  Algumas sequências.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75" y="1307861"/>
            <a:ext cx="7178844" cy="3811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III. Exemplos de utilização;</a:t>
            </a:r>
            <a:endParaRPr/>
          </a:p>
        </p:txBody>
      </p:sp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Ordenar arrays com uma quantidade moderada ou grande de dados como, por exemplo, microcontroladores que não possuem muita memória e precisam de um algoritmo in-place eficiente.</a:t>
            </a:r>
            <a:br>
              <a:rPr lang="en"/>
            </a:br>
            <a:endParaRPr/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Linux Kernel: É utilizado</a:t>
            </a:r>
            <a:r>
              <a:rPr lang="en"/>
              <a:t> na biblioteca uClibc, que é utilizada em sistemas embarcados.</a:t>
            </a:r>
            <a:br>
              <a:rPr lang="en"/>
            </a:br>
            <a:endParaRPr/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Algoritmos de compressão: Pode ser usado como sub-rotina nesses algoritmos para ordenar os dados antes de </a:t>
            </a:r>
            <a:r>
              <a:rPr lang="en"/>
              <a:t>comprimi</a:t>
            </a:r>
            <a:r>
              <a:rPr lang="en"/>
              <a:t>-los, reduzindo o tamanho do arquivo. É utilizado na biblioteca de compressão bzip2 utilizando os incrementos de Knuth.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III. Exemplos de utilização;</a:t>
            </a:r>
            <a:endParaRPr/>
          </a:p>
        </p:txBody>
      </p:sp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Criptografia: Pode ser utilizado em alguns algoritmos de criptografia para embaralhar a ordem dos dados antes de criptografar. O que torna a criptografia mais segura e mais difícil de ser quebrada.</a:t>
            </a:r>
            <a:br>
              <a:rPr lang="en"/>
            </a:b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Indexação de banco de dados: Utilizado para ordenar dados em um índice de banco de dados. No SQLite, a estrutura de dados B-tree é utilizada para indexação, e o Shell Sort é usado como algoritmo de ordenação para construir e manter a B-tree.</a:t>
            </a:r>
            <a:br>
              <a:rPr lang="en"/>
            </a:b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Visualização de dados: Utilizado em algumas ferramentas de visualização de dados para ordenar os dados antes de exibi-los. Tornando os dados mais legíveis e mais fáceis de interpretar.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IV. Exemplos de i</a:t>
            </a:r>
            <a:r>
              <a:rPr lang="en"/>
              <a:t>mplementação</a:t>
            </a:r>
            <a:r>
              <a:rPr lang="en"/>
              <a:t>;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lphaUcPeriod"/>
            </a:pPr>
            <a:r>
              <a:rPr lang="en"/>
              <a:t>Shell;</a:t>
            </a:r>
            <a:endParaRPr/>
          </a:p>
        </p:txBody>
      </p:sp>
      <p:pic>
        <p:nvPicPr>
          <p:cNvPr id="225" name="Google Shape;2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925" y="1307850"/>
            <a:ext cx="5540036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IV. Exemplos de implementação;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B.    Knuth;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5375" y="1307850"/>
            <a:ext cx="5723160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IV. Exemplos de implementação;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C.    Ciura.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8975" y="1307850"/>
            <a:ext cx="4446046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V. </a:t>
            </a:r>
            <a:r>
              <a:rPr lang="en"/>
              <a:t>Vantagens e desvantagens</a:t>
            </a:r>
            <a:r>
              <a:rPr lang="en"/>
              <a:t>;</a:t>
            </a:r>
            <a:endParaRPr/>
          </a:p>
        </p:txBody>
      </p:sp>
      <p:sp>
        <p:nvSpPr>
          <p:cNvPr id="243" name="Google Shape;243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Vantagens:</a:t>
            </a:r>
            <a:endParaRPr/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Implementação simples;</a:t>
            </a:r>
            <a:br>
              <a:rPr lang="en"/>
            </a:br>
            <a:endParaRPr/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Desempenho médio mais rápido do que outros algoritmos, como o Bubble Sort e o Selection Sort.</a:t>
            </a:r>
            <a:br>
              <a:rPr lang="en"/>
            </a:br>
            <a:endParaRPr/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Ordenação in-place: Não requer espaço adicional de memória para a ordenação.</a:t>
            </a:r>
            <a:br>
              <a:rPr lang="en"/>
            </a:b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Desvantagens:</a:t>
            </a:r>
            <a:endParaRPr/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Não é estável: Não preserva a ordem dos elementos iguais nos dados de entrada.</a:t>
            </a:r>
            <a:br>
              <a:rPr lang="en"/>
            </a:br>
            <a:endParaRPr/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Tempo de execução sensível à ordem inicial dos dados.</a:t>
            </a:r>
            <a:br>
              <a:rPr lang="en"/>
            </a:br>
            <a:endParaRPr/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Já que a sequência perfeita não foi encontrada, pode ser difícil encontrar a melhor sequência para o problema. É necessário pesquisar e comparar os resultados com testes.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VI. Conclusão;</a:t>
            </a:r>
            <a:endParaRPr/>
          </a:p>
        </p:txBody>
      </p:sp>
      <p:sp>
        <p:nvSpPr>
          <p:cNvPr id="249" name="Google Shape;249;p30"/>
          <p:cNvSpPr txBox="1"/>
          <p:nvPr>
            <p:ph idx="1" type="body"/>
          </p:nvPr>
        </p:nvSpPr>
        <p:spPr>
          <a:xfrm>
            <a:off x="1187125" y="14351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     </a:t>
            </a:r>
            <a:r>
              <a:rPr lang="en"/>
              <a:t>O Shell Sort acaba sendo uma opção geralmente melhor do que outros algoritmos de ordenação com complexidade O(n^2) porque permite ordenar elementos que estão distantes dentro do array e isso otimiza a utilização do Insertion Sort, que é o último passo no algoritmo.</a:t>
            </a:r>
            <a:br>
              <a:rPr lang="en"/>
            </a:b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    </a:t>
            </a:r>
            <a:r>
              <a:rPr lang="en"/>
              <a:t>Apesar do algoritmo ser bom para tamanhos moderados, o foco principal mesmo é a sua simplicidade de implementação e a eficiência no uso da memória, já que o ShellSort utiliza apenas o espaço já alocado para o array.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VII. Referências.</a:t>
            </a:r>
            <a:endParaRPr/>
          </a:p>
        </p:txBody>
      </p:sp>
      <p:sp>
        <p:nvSpPr>
          <p:cNvPr id="255" name="Google Shape;255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https://codecrucks.com/shell-sort/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https://www.shiksha.com/online-courses/articles/shell-sort-advantages-and-disadvantages/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https://web.archive.org/web/20181026010135/http://www.stoimen.com:80/blog/2012/02/27/computer-algorithms-shell-sort/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https://www.scholarhat.com/tutorial/datastructures/shell-sort-in-data-structures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https://www.mycplus.com/featured-articles/shell-sort-algorithm/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https://www.treinaweb.com.br/blog/conheca-os-principais-algoritmos-de-ordenacao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https://web.archive.org/web/20180923235211/http://sun.aei.polsl.pl/~mciura/publikacje/shellsort.pdf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https://en.wikipedia.org/wiki/Shellsort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11"/>
              </a:rPr>
              <a:t>https://www.programiz.com/dsa/shell-sort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